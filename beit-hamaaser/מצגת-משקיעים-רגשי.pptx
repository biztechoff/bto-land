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68596" y="868680"/>
            <a:ext cx="1371600" cy="1371600"/>
          </a:xfrm>
          <a:prstGeom prst="ellipse">
            <a:avLst/>
          </a:prstGeom>
          <a:solidFill>
            <a:srgbClr val="3AA6E0">
              <a:alpha val="8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048756" y="868680"/>
            <a:ext cx="1371600" cy="1371600"/>
          </a:xfrm>
          <a:prstGeom prst="ellipse">
            <a:avLst/>
          </a:prstGeom>
          <a:solidFill>
            <a:srgbClr val="E8602C">
              <a:alpha val="8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1045952" y="1463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F6E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בס"ד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103601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בֵּית הַמַּעֲשֵׂר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914400" y="361188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6E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מהלב אל הלב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434340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500" dirty="0">
                <a:solidFill>
                  <a:srgbClr val="F6E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מרכז רוחני ע״ש מאיה בן דוד ז״ל הי״ד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5852160"/>
            <a:ext cx="103601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i="1" dirty="0">
                <a:solidFill>
                  <a:srgbClr val="9BB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הגשמת חלומה של מאיה · נתינה טהורה · אהבת חינם · גאולה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3B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45952" y="1463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F6E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בס"ד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״באנו לעולם לתת,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914400" y="269748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 לקחת.״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3657600"/>
            <a:ext cx="10360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F6E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נתחיל לתת — נתחיל לקבל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448056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600" i="1" dirty="0">
                <a:solidFill>
                  <a:srgbClr val="CFE2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מי שמטיב לבריות — נעשה שותף של הבורא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45952" y="1463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BF3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בס"ד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982712" y="777240"/>
            <a:ext cx="3657600" cy="457200"/>
          </a:xfrm>
          <a:prstGeom prst="roundRect">
            <a:avLst>
              <a:gd name="adj" fmla="val 50000"/>
            </a:avLst>
          </a:prstGeom>
          <a:solidFill>
            <a:srgbClr val="FDEEE6"/>
          </a:solidFill>
          <a:ln/>
        </p:spPr>
      </p:sp>
      <p:sp>
        <p:nvSpPr>
          <p:cNvPr id="4" name="Text 2"/>
          <p:cNvSpPr/>
          <p:nvPr/>
        </p:nvSpPr>
        <p:spPr>
          <a:xfrm>
            <a:off x="7982712" y="7772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BF3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🕯️ מי הייתה מאיה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06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אישה שכל כולה נתינה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10725912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מאיה בן דוד ז״ל, אשת חינוך ואמא, ״מאיה מורינגה״ — הקדישה את חייה לרפא את העולם. </a:t>
            </a:r>
            <a:pPr algn="r" indent="0" marL="0">
              <a:lnSpc>
                <a:spcPct val="125000"/>
              </a:lnSpc>
              <a:buNone/>
            </a:pPr>
            <a:r>
              <a:rPr lang="en-US" sz="2000" i="1" dirty="0">
                <a:solidFill>
                  <a:srgbClr val="7A5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שבוע לפני מותה התעוררה וסיפרה לאמהּ על חלום: שאמרו לה שהיא עומדת לעזוב את העולם. </a:t>
            </a:r>
            <a:pPr algn="r"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BF3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בשמחת תורה, בכפר עזה, נקטעו חייה — אך לא נקטעה הנתינה.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5D67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בֵּית הַמַּעֲשֵׂר · מהלב אל הלב · ע״ש מאיה בן דוד ז״ל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3B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45952" y="1463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F6E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בס"ד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במותה —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914400" y="269748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ציוותה לנו את החיים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448056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600" i="1" dirty="0">
                <a:solidFill>
                  <a:srgbClr val="CFE2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מאיה היא אחת מתוך מאות נשמות. בית המעשר הוא הנצחה חיה לכולן.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45952" y="1463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F6E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בס"ד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430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נשמה ממשיכה במה שאהבה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280160" y="1508760"/>
            <a:ext cx="96286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550" i="1" dirty="0">
                <a:solidFill>
                  <a:srgbClr val="CFE2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התחביב שלהם הופך למחלקה — והתרומה לעילוי נשמתם ממשיכה בדיוק את מה שאהבו.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99516" y="2377440"/>
            <a:ext cx="3383280" cy="1371600"/>
          </a:xfrm>
          <a:prstGeom prst="roundRect">
            <a:avLst>
              <a:gd name="adj" fmla="val 6667"/>
            </a:avLst>
          </a:prstGeom>
          <a:solidFill>
            <a:srgbClr val="0F2A40"/>
          </a:solidFill>
          <a:ln w="19050">
            <a:solidFill>
              <a:srgbClr val="2F9E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9292" y="2578608"/>
            <a:ext cx="310896" cy="310896"/>
          </a:xfrm>
          <a:prstGeom prst="ellipse">
            <a:avLst/>
          </a:prstGeom>
          <a:solidFill>
            <a:srgbClr val="2F9E6B"/>
          </a:solidFill>
          <a:ln/>
        </p:spPr>
      </p:sp>
      <p:sp>
        <p:nvSpPr>
          <p:cNvPr id="7" name="Text 5"/>
          <p:cNvSpPr/>
          <p:nvPr/>
        </p:nvSpPr>
        <p:spPr>
          <a:xfrm>
            <a:off x="973836" y="2523744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ריפוי ורטריט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73836" y="3054096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BB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לעילוי נשמת מאיה ז״ל · סיפור אמיתי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02836" y="2377440"/>
            <a:ext cx="3383280" cy="1371600"/>
          </a:xfrm>
          <a:prstGeom prst="roundRect">
            <a:avLst>
              <a:gd name="adj" fmla="val 6667"/>
            </a:avLst>
          </a:prstGeom>
          <a:solidFill>
            <a:srgbClr val="0F2A40"/>
          </a:solidFill>
          <a:ln w="19050">
            <a:solidFill>
              <a:srgbClr val="3AA6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82612" y="2578608"/>
            <a:ext cx="310896" cy="310896"/>
          </a:xfrm>
          <a:prstGeom prst="ellipse">
            <a:avLst/>
          </a:prstGeom>
          <a:solidFill>
            <a:srgbClr val="3AA6E0"/>
          </a:solidFill>
          <a:ln/>
        </p:spPr>
      </p:sp>
      <p:sp>
        <p:nvSpPr>
          <p:cNvPr id="11" name="Text 9"/>
          <p:cNvSpPr/>
          <p:nvPr/>
        </p:nvSpPr>
        <p:spPr>
          <a:xfrm>
            <a:off x="4677156" y="2523744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מחלקת גלישה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77156" y="3054096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BB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דוגמה — ע״ש איתי, שאהב את הים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06156" y="2377440"/>
            <a:ext cx="3383280" cy="1371600"/>
          </a:xfrm>
          <a:prstGeom prst="roundRect">
            <a:avLst>
              <a:gd name="adj" fmla="val 6667"/>
            </a:avLst>
          </a:prstGeom>
          <a:solidFill>
            <a:srgbClr val="0F2A40"/>
          </a:solidFill>
          <a:ln w="19050">
            <a:solidFill>
              <a:srgbClr val="0E6BA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885932" y="2578608"/>
            <a:ext cx="310896" cy="310896"/>
          </a:xfrm>
          <a:prstGeom prst="ellipse">
            <a:avLst/>
          </a:prstGeom>
          <a:solidFill>
            <a:srgbClr val="0E6BA8"/>
          </a:solidFill>
          <a:ln/>
        </p:spPr>
      </p:sp>
      <p:sp>
        <p:nvSpPr>
          <p:cNvPr id="15" name="Text 13"/>
          <p:cNvSpPr/>
          <p:nvPr/>
        </p:nvSpPr>
        <p:spPr>
          <a:xfrm>
            <a:off x="8380476" y="2523744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מחלקת יוגה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80476" y="3054096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BB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דוגמה — ע״ש דנה, שאהבה יוגה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99516" y="4023360"/>
            <a:ext cx="3383280" cy="1371600"/>
          </a:xfrm>
          <a:prstGeom prst="roundRect">
            <a:avLst>
              <a:gd name="adj" fmla="val 6667"/>
            </a:avLst>
          </a:prstGeom>
          <a:solidFill>
            <a:srgbClr val="0F2A40"/>
          </a:solidFill>
          <a:ln w="19050">
            <a:solidFill>
              <a:srgbClr val="8A4FA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79292" y="4224528"/>
            <a:ext cx="310896" cy="310896"/>
          </a:xfrm>
          <a:prstGeom prst="ellipse">
            <a:avLst/>
          </a:prstGeom>
          <a:solidFill>
            <a:srgbClr val="8A4FA3"/>
          </a:solidFill>
          <a:ln/>
        </p:spPr>
      </p:sp>
      <p:sp>
        <p:nvSpPr>
          <p:cNvPr id="19" name="Text 17"/>
          <p:cNvSpPr/>
          <p:nvPr/>
        </p:nvSpPr>
        <p:spPr>
          <a:xfrm>
            <a:off x="973836" y="4169664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אמבטיות קרח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73836" y="4700016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BB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דוגמה — ע״ש יוני, שאהב שלג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402836" y="4023360"/>
            <a:ext cx="3383280" cy="1371600"/>
          </a:xfrm>
          <a:prstGeom prst="roundRect">
            <a:avLst>
              <a:gd name="adj" fmla="val 6667"/>
            </a:avLst>
          </a:prstGeom>
          <a:solidFill>
            <a:srgbClr val="0F2A40"/>
          </a:solidFill>
          <a:ln w="19050">
            <a:solidFill>
              <a:srgbClr val="E7B94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82612" y="4224528"/>
            <a:ext cx="310896" cy="310896"/>
          </a:xfrm>
          <a:prstGeom prst="ellipse">
            <a:avLst/>
          </a:prstGeom>
          <a:solidFill>
            <a:srgbClr val="E7B94E"/>
          </a:solidFill>
          <a:ln/>
        </p:spPr>
      </p:sp>
      <p:sp>
        <p:nvSpPr>
          <p:cNvPr id="23" name="Text 21"/>
          <p:cNvSpPr/>
          <p:nvPr/>
        </p:nvSpPr>
        <p:spPr>
          <a:xfrm>
            <a:off x="4677156" y="4169664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שיעורי תורה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677156" y="4700016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BB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דוגמה — ע״ש נמרוד, שאהב תורה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106156" y="4023360"/>
            <a:ext cx="3383280" cy="1371600"/>
          </a:xfrm>
          <a:prstGeom prst="roundRect">
            <a:avLst>
              <a:gd name="adj" fmla="val 6667"/>
            </a:avLst>
          </a:prstGeom>
          <a:solidFill>
            <a:srgbClr val="0F2A40"/>
          </a:solidFill>
          <a:ln w="19050">
            <a:solidFill>
              <a:srgbClr val="E8602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885932" y="4224528"/>
            <a:ext cx="310896" cy="310896"/>
          </a:xfrm>
          <a:prstGeom prst="ellipse">
            <a:avLst/>
          </a:prstGeom>
          <a:solidFill>
            <a:srgbClr val="E8602C"/>
          </a:solidFill>
          <a:ln/>
        </p:spPr>
      </p:sp>
      <p:sp>
        <p:nvSpPr>
          <p:cNvPr id="27" name="Text 25"/>
          <p:cNvSpPr/>
          <p:nvPr/>
        </p:nvSpPr>
        <p:spPr>
          <a:xfrm>
            <a:off x="8380476" y="4169664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מוסיקה והופעות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380476" y="4700016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BB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לזכר אוהבי הניגון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914400" y="621792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9BB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מאיה — סיפור אמיתי ומתועד · איתי/דנה/יוני/נמרוד — דוגמאות להמחשת המודל · כל הקדשה אמיתית בתיאום ובאישור המשפחות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45952" y="1463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BF3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בס"ד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731520"/>
            <a:ext cx="105430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200" b="1" dirty="0">
                <a:solidFill>
                  <a:srgbClr val="06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מים · שלום · אש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99516" y="1828800"/>
            <a:ext cx="3383280" cy="38404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8DFCC"/>
            </a:solidFill>
            <a:prstDash val="solid"/>
          </a:ln>
          <a:effectLst>
            <a:outerShdw sx="100000" sy="100000" kx="0" ky="0" algn="bl" rotWithShape="0" blurRad="114300" dist="38100" dir="8100000">
              <a:srgbClr val="063B5C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99516" y="2331720"/>
            <a:ext cx="3383280" cy="365760"/>
          </a:xfrm>
          <a:prstGeom prst="rect">
            <a:avLst/>
          </a:prstGeom>
          <a:solidFill>
            <a:srgbClr val="0E6BA8"/>
          </a:solidFill>
          <a:ln/>
        </p:spPr>
      </p:sp>
      <p:sp>
        <p:nvSpPr>
          <p:cNvPr id="6" name="Shape 4"/>
          <p:cNvSpPr/>
          <p:nvPr/>
        </p:nvSpPr>
        <p:spPr>
          <a:xfrm>
            <a:off x="699516" y="1828800"/>
            <a:ext cx="3383280" cy="868680"/>
          </a:xfrm>
          <a:prstGeom prst="roundRect">
            <a:avLst>
              <a:gd name="adj" fmla="val 12632"/>
            </a:avLst>
          </a:prstGeom>
          <a:solidFill>
            <a:srgbClr val="0E6BA8"/>
          </a:solidFill>
          <a:ln/>
        </p:spPr>
      </p:sp>
      <p:sp>
        <p:nvSpPr>
          <p:cNvPr id="7" name="Text 5"/>
          <p:cNvSpPr/>
          <p:nvPr/>
        </p:nvSpPr>
        <p:spPr>
          <a:xfrm>
            <a:off x="699516" y="187452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מַיִם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973836" y="29260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0E6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הדרך של מאיה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19556" y="3429000"/>
            <a:ext cx="27432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ריפוי הגוף והנפש — יוגה, אמבטיות קרח, סדנאות, רטריט.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4402836" y="1828800"/>
            <a:ext cx="3383280" cy="38404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8DFCC"/>
            </a:solidFill>
            <a:prstDash val="solid"/>
          </a:ln>
          <a:effectLst>
            <a:outerShdw sx="100000" sy="100000" kx="0" ky="0" algn="bl" rotWithShape="0" blurRad="114300" dist="38100" dir="8100000">
              <a:srgbClr val="063B5C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02836" y="2331720"/>
            <a:ext cx="3383280" cy="365760"/>
          </a:xfrm>
          <a:prstGeom prst="rect">
            <a:avLst/>
          </a:prstGeom>
          <a:solidFill>
            <a:srgbClr val="E7B94E"/>
          </a:solidFill>
          <a:ln/>
        </p:spPr>
      </p:sp>
      <p:sp>
        <p:nvSpPr>
          <p:cNvPr id="12" name="Shape 10"/>
          <p:cNvSpPr/>
          <p:nvPr/>
        </p:nvSpPr>
        <p:spPr>
          <a:xfrm>
            <a:off x="4402836" y="1828800"/>
            <a:ext cx="3383280" cy="868680"/>
          </a:xfrm>
          <a:prstGeom prst="roundRect">
            <a:avLst>
              <a:gd name="adj" fmla="val 12632"/>
            </a:avLst>
          </a:prstGeom>
          <a:solidFill>
            <a:srgbClr val="E7B94E"/>
          </a:solidFill>
          <a:ln/>
        </p:spPr>
      </p:sp>
      <p:sp>
        <p:nvSpPr>
          <p:cNvPr id="13" name="Text 11"/>
          <p:cNvSpPr/>
          <p:nvPr/>
        </p:nvSpPr>
        <p:spPr>
          <a:xfrm>
            <a:off x="4402836" y="187452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שָׁלוֹם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677156" y="29260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E7B9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הגאולה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22876" y="3429000"/>
            <a:ext cx="27432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כאן המים והאש מתאחדים — וביחד מגיעים לשלמות.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8106156" y="1828800"/>
            <a:ext cx="3383280" cy="38404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8DFCC"/>
            </a:solidFill>
            <a:prstDash val="solid"/>
          </a:ln>
          <a:effectLst>
            <a:outerShdw sx="100000" sy="100000" kx="0" ky="0" algn="bl" rotWithShape="0" blurRad="114300" dist="38100" dir="8100000">
              <a:srgbClr val="063B5C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06156" y="2331720"/>
            <a:ext cx="3383280" cy="365760"/>
          </a:xfrm>
          <a:prstGeom prst="rect">
            <a:avLst/>
          </a:prstGeom>
          <a:solidFill>
            <a:srgbClr val="E8602C"/>
          </a:solidFill>
          <a:ln/>
        </p:spPr>
      </p:sp>
      <p:sp>
        <p:nvSpPr>
          <p:cNvPr id="18" name="Shape 16"/>
          <p:cNvSpPr/>
          <p:nvPr/>
        </p:nvSpPr>
        <p:spPr>
          <a:xfrm>
            <a:off x="8106156" y="1828800"/>
            <a:ext cx="3383280" cy="868680"/>
          </a:xfrm>
          <a:prstGeom prst="roundRect">
            <a:avLst>
              <a:gd name="adj" fmla="val 12632"/>
            </a:avLst>
          </a:prstGeom>
          <a:solidFill>
            <a:srgbClr val="E8602C"/>
          </a:solidFill>
          <a:ln/>
        </p:spPr>
      </p:sp>
      <p:sp>
        <p:nvSpPr>
          <p:cNvPr id="19" name="Text 17"/>
          <p:cNvSpPr/>
          <p:nvPr/>
        </p:nvSpPr>
        <p:spPr>
          <a:xfrm>
            <a:off x="8106156" y="187452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אֵשׁ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8380476" y="29260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E86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הנשמה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26196" y="3429000"/>
            <a:ext cx="27432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הדלקת הרוח — תורה, חיזוק, זוגיות וערכים.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5D67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בֵּית הַמַּעֲשֵׂר · מהלב אל הלב · ע״ש מאיה בן דוד ז״ל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45952" y="1463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BF3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בס"ד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5430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400" b="1" dirty="0">
                <a:solidFill>
                  <a:srgbClr val="06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נתינה טהורה — בלי חשבון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53796" y="2103120"/>
            <a:ext cx="338328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8DFCC"/>
            </a:solidFill>
            <a:prstDash val="solid"/>
          </a:ln>
          <a:effectLst>
            <a:outerShdw sx="100000" sy="100000" kx="0" ky="0" algn="bl" rotWithShape="0" blurRad="114300" dist="38100" dir="8100000">
              <a:srgbClr val="063B5C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3796" y="2103120"/>
            <a:ext cx="3383280" cy="128016"/>
          </a:xfrm>
          <a:prstGeom prst="rect">
            <a:avLst/>
          </a:prstGeom>
          <a:solidFill>
            <a:srgbClr val="E7B94E"/>
          </a:solidFill>
          <a:ln/>
        </p:spPr>
      </p:sp>
      <p:sp>
        <p:nvSpPr>
          <p:cNvPr id="6" name="Text 4"/>
          <p:cNvSpPr/>
          <p:nvPr/>
        </p:nvSpPr>
        <p:spPr>
          <a:xfrm>
            <a:off x="653796" y="251460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4200" b="1" dirty="0">
                <a:solidFill>
                  <a:srgbClr val="E7B9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מאיה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882396" y="3584448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D67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אחוז נתינה (לא ״מאה אחוז״)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402836" y="2103120"/>
            <a:ext cx="338328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8DFCC"/>
            </a:solidFill>
            <a:prstDash val="solid"/>
          </a:ln>
          <a:effectLst>
            <a:outerShdw sx="100000" sy="100000" kx="0" ky="0" algn="bl" rotWithShape="0" blurRad="114300" dist="38100" dir="8100000">
              <a:srgbClr val="063B5C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02836" y="2103120"/>
            <a:ext cx="3383280" cy="128016"/>
          </a:xfrm>
          <a:prstGeom prst="rect">
            <a:avLst/>
          </a:prstGeom>
          <a:solidFill>
            <a:srgbClr val="E8602C"/>
          </a:solidFill>
          <a:ln/>
        </p:spPr>
      </p:sp>
      <p:sp>
        <p:nvSpPr>
          <p:cNvPr id="10" name="Text 8"/>
          <p:cNvSpPr/>
          <p:nvPr/>
        </p:nvSpPr>
        <p:spPr>
          <a:xfrm>
            <a:off x="4402836" y="251460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4200" b="1" dirty="0">
                <a:solidFill>
                  <a:srgbClr val="E86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4631436" y="3584448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D67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רווח · הכל חינם, הכל מתרומות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151876" y="2103120"/>
            <a:ext cx="338328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8DFCC"/>
            </a:solidFill>
            <a:prstDash val="solid"/>
          </a:ln>
          <a:effectLst>
            <a:outerShdw sx="100000" sy="100000" kx="0" ky="0" algn="bl" rotWithShape="0" blurRad="114300" dist="38100" dir="8100000">
              <a:srgbClr val="063B5C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51876" y="2103120"/>
            <a:ext cx="3383280" cy="128016"/>
          </a:xfrm>
          <a:prstGeom prst="rect">
            <a:avLst/>
          </a:prstGeom>
          <a:solidFill>
            <a:srgbClr val="0E6BA8"/>
          </a:solidFill>
          <a:ln/>
        </p:spPr>
      </p:sp>
      <p:sp>
        <p:nvSpPr>
          <p:cNvPr id="14" name="Text 12"/>
          <p:cNvSpPr/>
          <p:nvPr/>
        </p:nvSpPr>
        <p:spPr>
          <a:xfrm>
            <a:off x="8151876" y="251460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4200" b="1" dirty="0">
                <a:solidFill>
                  <a:srgbClr val="0E6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₪10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8380476" y="3584448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D67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מתחילים לתת — בחודש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914400" y="484632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BF3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 מרוויח כאן? אתה. השם נמצא פה בשבילך.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5D67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בֵּית הַמַּעֲשֵׂר · מהלב אל הלב · ע״ש מאיה בן דוד ז״ל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3B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45952" y="1463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F6E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בס"ד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768596" y="731520"/>
            <a:ext cx="1371600" cy="1371600"/>
          </a:xfrm>
          <a:prstGeom prst="ellipse">
            <a:avLst/>
          </a:prstGeom>
          <a:solidFill>
            <a:srgbClr val="3AA6E0">
              <a:alpha val="7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048756" y="731520"/>
            <a:ext cx="1371600" cy="1371600"/>
          </a:xfrm>
          <a:prstGeom prst="ellipse">
            <a:avLst/>
          </a:prstGeom>
          <a:solidFill>
            <a:srgbClr val="E8602C">
              <a:alpha val="7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377440"/>
            <a:ext cx="103601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800" b="1" dirty="0">
                <a:solidFill>
                  <a:srgbClr val="F6E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מאיה ה׳ דורש ממך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463040" y="3291840"/>
            <a:ext cx="92628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i="1" dirty="0">
                <a:solidFill>
                  <a:srgbClr val="CFE2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״מה ה׳ דורש ממך כי אם עשות משפט ואהבת חסד״ — והתשובה היא מאיה: לתת, לרפא, לאהוב.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429768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להפוך זיכרון לחיים, אובדן לאור — ולחבר את עם ישראל באהבת חינם.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594360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6E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בֵּית הַמַּעֲשֵׂר · ע״ש מאיה בן דוד ז״ל · תְּהֵא נִשְׁמָתָהּ צְרוּרָה בִּצְרוֹר הַחַיִּים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בית המעשר — משקיעים (רגשי)</dc:title>
  <dc:subject>PptxGenJS Presentation</dc:subject>
  <dc:creator>PptxGenJS</dc:creator>
  <cp:lastModifiedBy>PptxGenJS</cp:lastModifiedBy>
  <cp:revision>1</cp:revision>
  <dcterms:created xsi:type="dcterms:W3CDTF">2026-06-03T11:29:23Z</dcterms:created>
  <dcterms:modified xsi:type="dcterms:W3CDTF">2026-06-03T11:29:23Z</dcterms:modified>
</cp:coreProperties>
</file>